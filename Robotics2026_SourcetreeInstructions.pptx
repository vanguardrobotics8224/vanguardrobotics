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78" y="-12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4078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785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120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9867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843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662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0232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053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956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372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8242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4182F-1590-49E8-8ADD-70EEAA472920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8C792-8551-4088-A77F-9A52F1A76F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7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VANGUARD ROBOTICS</a:t>
            </a:r>
            <a:br>
              <a:rPr lang="en-CA" dirty="0" smtClean="0"/>
            </a:br>
            <a:r>
              <a:rPr lang="en-CA" dirty="0" smtClean="0"/>
              <a:t>2026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304856" cy="1752600"/>
          </a:xfrm>
        </p:spPr>
        <p:txBody>
          <a:bodyPr/>
          <a:lstStyle/>
          <a:p>
            <a:r>
              <a:rPr lang="en-CA" dirty="0" err="1" smtClean="0"/>
              <a:t>Github</a:t>
            </a:r>
            <a:r>
              <a:rPr lang="en-CA" dirty="0" smtClean="0"/>
              <a:t> / </a:t>
            </a:r>
            <a:r>
              <a:rPr lang="en-CA" dirty="0" err="1" smtClean="0"/>
              <a:t>Sourcetree</a:t>
            </a:r>
            <a:r>
              <a:rPr lang="en-CA" dirty="0" smtClean="0"/>
              <a:t> Setup/usage guide and </a:t>
            </a:r>
          </a:p>
          <a:p>
            <a:r>
              <a:rPr lang="en-CA" dirty="0" smtClean="0"/>
              <a:t>File sharing procedures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052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Sign in to github.com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3"/>
            <a:ext cx="4032448" cy="3816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 smtClean="0"/>
              <a:t>Note the repositories:</a:t>
            </a:r>
          </a:p>
          <a:p>
            <a:r>
              <a:rPr lang="en-CA" sz="2400" dirty="0" err="1" smtClean="0"/>
              <a:t>vanguardrobotics</a:t>
            </a:r>
            <a:endParaRPr lang="en-CA" sz="2400" dirty="0"/>
          </a:p>
          <a:p>
            <a:pPr lvl="1"/>
            <a:r>
              <a:rPr lang="en-CA" sz="2000" dirty="0" smtClean="0"/>
              <a:t> website –do not use</a:t>
            </a:r>
          </a:p>
          <a:p>
            <a:r>
              <a:rPr lang="en-CA" sz="2400" dirty="0" smtClean="0"/>
              <a:t>Vanguardrobotics.github.io</a:t>
            </a:r>
          </a:p>
          <a:p>
            <a:pPr lvl="1"/>
            <a:r>
              <a:rPr lang="en-CA" sz="2000" dirty="0" smtClean="0"/>
              <a:t>website –do not use</a:t>
            </a:r>
          </a:p>
          <a:p>
            <a:r>
              <a:rPr lang="en-CA" sz="2400" dirty="0" err="1" smtClean="0"/>
              <a:t>vanguardrobotics</a:t>
            </a:r>
            <a:r>
              <a:rPr lang="en-CA" sz="2400" dirty="0" smtClean="0"/>
              <a:t>-projects</a:t>
            </a:r>
          </a:p>
          <a:p>
            <a:pPr lvl="1"/>
            <a:r>
              <a:rPr lang="en-CA" sz="2000" dirty="0" smtClean="0"/>
              <a:t>sample coding projects</a:t>
            </a:r>
          </a:p>
          <a:p>
            <a:r>
              <a:rPr lang="en-CA" sz="2400" dirty="0" smtClean="0"/>
              <a:t>Vanguard-Robotics-Team</a:t>
            </a:r>
          </a:p>
          <a:p>
            <a:pPr lvl="1"/>
            <a:r>
              <a:rPr lang="en-CA" sz="2000" dirty="0" smtClean="0"/>
              <a:t>main code base</a:t>
            </a:r>
          </a:p>
        </p:txBody>
      </p:sp>
      <p:pic>
        <p:nvPicPr>
          <p:cNvPr id="1026" name="Picture 2" descr="C:\Users\jwarr\Pictures\Screenshots\Screenshot 2026-01-07 19300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851" y="1340768"/>
            <a:ext cx="4171950" cy="538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3017" y="5629890"/>
            <a:ext cx="4428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 smtClean="0"/>
              <a:t>Click on Vanguard-Robotics-Team</a:t>
            </a:r>
            <a:endParaRPr lang="en-CA" sz="2400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211960" y="5085184"/>
            <a:ext cx="720080" cy="544706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0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Set up </a:t>
            </a:r>
            <a:r>
              <a:rPr lang="en-CA" dirty="0" err="1" smtClean="0"/>
              <a:t>SourceTree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65104"/>
          </a:xfrm>
        </p:spPr>
        <p:txBody>
          <a:bodyPr>
            <a:normAutofit/>
          </a:bodyPr>
          <a:lstStyle/>
          <a:p>
            <a:r>
              <a:rPr lang="en-CA" dirty="0" smtClean="0"/>
              <a:t>Open </a:t>
            </a:r>
            <a:r>
              <a:rPr lang="en-CA" dirty="0" err="1" smtClean="0"/>
              <a:t>SourceTree</a:t>
            </a:r>
            <a:r>
              <a:rPr lang="en-CA" dirty="0" smtClean="0"/>
              <a:t>. This assumes you signed in to your </a:t>
            </a:r>
            <a:r>
              <a:rPr lang="en-CA" dirty="0" err="1" smtClean="0"/>
              <a:t>bitbucket</a:t>
            </a:r>
            <a:r>
              <a:rPr lang="en-CA" dirty="0" smtClean="0"/>
              <a:t> account earlier.</a:t>
            </a:r>
          </a:p>
          <a:p>
            <a:r>
              <a:rPr lang="en-CA" dirty="0" smtClean="0"/>
              <a:t>Go to Tools </a:t>
            </a:r>
          </a:p>
          <a:p>
            <a:pPr lvl="1"/>
            <a:r>
              <a:rPr lang="en-CA" dirty="0" smtClean="0"/>
              <a:t>&gt; Options</a:t>
            </a:r>
          </a:p>
          <a:p>
            <a:pPr lvl="1"/>
            <a:endParaRPr lang="en-CA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077072"/>
            <a:ext cx="588803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686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>
            <a:normAutofit/>
          </a:bodyPr>
          <a:lstStyle/>
          <a:p>
            <a:r>
              <a:rPr lang="en-CA" dirty="0" smtClean="0"/>
              <a:t>Set up </a:t>
            </a:r>
            <a:r>
              <a:rPr lang="en-CA" dirty="0" err="1" smtClean="0"/>
              <a:t>SourceTree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94920" cy="4565104"/>
          </a:xfrm>
        </p:spPr>
        <p:txBody>
          <a:bodyPr>
            <a:normAutofit/>
          </a:bodyPr>
          <a:lstStyle/>
          <a:p>
            <a:r>
              <a:rPr lang="en-CA" dirty="0" smtClean="0"/>
              <a:t>Full Name</a:t>
            </a:r>
          </a:p>
          <a:p>
            <a:pPr lvl="1"/>
            <a:r>
              <a:rPr lang="en-CA" dirty="0" smtClean="0"/>
              <a:t>Your name</a:t>
            </a:r>
          </a:p>
          <a:p>
            <a:r>
              <a:rPr lang="en-CA" dirty="0" smtClean="0"/>
              <a:t>Email address</a:t>
            </a:r>
          </a:p>
          <a:p>
            <a:pPr lvl="1"/>
            <a:r>
              <a:rPr lang="en-CA" dirty="0" smtClean="0"/>
              <a:t>Your email address</a:t>
            </a:r>
          </a:p>
          <a:p>
            <a:r>
              <a:rPr lang="en-CA" dirty="0" smtClean="0"/>
              <a:t>Project Folder</a:t>
            </a:r>
          </a:p>
          <a:p>
            <a:pPr lvl="1"/>
            <a:r>
              <a:rPr lang="en-CA" dirty="0" smtClean="0"/>
              <a:t>C:\github</a:t>
            </a:r>
          </a:p>
          <a:p>
            <a:pPr lvl="1"/>
            <a:endParaRPr lang="en-CA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16632"/>
            <a:ext cx="3400425" cy="666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V="1">
            <a:off x="2987824" y="2389530"/>
            <a:ext cx="3024336" cy="51683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067944" y="2924945"/>
            <a:ext cx="1944216" cy="648071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843808" y="4653136"/>
            <a:ext cx="3312368" cy="216024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689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Clone a Repository</a:t>
            </a:r>
            <a:br>
              <a:rPr lang="en-CA" dirty="0" smtClean="0"/>
            </a:br>
            <a:r>
              <a:rPr lang="en-CA" dirty="0" smtClean="0"/>
              <a:t>step 1 -</a:t>
            </a:r>
            <a:r>
              <a:rPr lang="en-CA" dirty="0" err="1" smtClean="0"/>
              <a:t>github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2713" y="1772816"/>
            <a:ext cx="3571775" cy="4525963"/>
          </a:xfrm>
        </p:spPr>
        <p:txBody>
          <a:bodyPr>
            <a:normAutofit/>
          </a:bodyPr>
          <a:lstStyle/>
          <a:p>
            <a:r>
              <a:rPr lang="en-CA" sz="2800" dirty="0" smtClean="0"/>
              <a:t>Click the green Code button</a:t>
            </a:r>
          </a:p>
          <a:p>
            <a:r>
              <a:rPr lang="en-CA" sz="2800" dirty="0" smtClean="0"/>
              <a:t>Select the copy button</a:t>
            </a:r>
          </a:p>
          <a:p>
            <a:pPr lvl="1"/>
            <a:r>
              <a:rPr lang="en-CA" sz="2400" dirty="0" smtClean="0"/>
              <a:t>This will copy the </a:t>
            </a:r>
            <a:r>
              <a:rPr lang="en-CA" sz="2400" dirty="0" err="1" smtClean="0"/>
              <a:t>url</a:t>
            </a:r>
            <a:r>
              <a:rPr lang="en-CA" sz="2400" dirty="0" smtClean="0"/>
              <a:t> for the </a:t>
            </a:r>
            <a:r>
              <a:rPr lang="en-CA" sz="2400" dirty="0" err="1" smtClean="0"/>
              <a:t>github</a:t>
            </a:r>
            <a:r>
              <a:rPr lang="en-CA" sz="2400" dirty="0" smtClean="0"/>
              <a:t> repository to your computer’s clipboard</a:t>
            </a:r>
            <a:endParaRPr lang="en-CA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72816"/>
            <a:ext cx="4848225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4955729" y="2132856"/>
            <a:ext cx="552375" cy="184666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716016" y="3253626"/>
            <a:ext cx="1008112" cy="895454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234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Clone a Repository</a:t>
            </a:r>
            <a:br>
              <a:rPr lang="en-CA" dirty="0" smtClean="0"/>
            </a:br>
            <a:r>
              <a:rPr lang="en-CA" dirty="0" smtClean="0"/>
              <a:t>step 2 -</a:t>
            </a:r>
            <a:r>
              <a:rPr lang="en-CA" dirty="0" err="1" smtClean="0"/>
              <a:t>SourceTree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2713" y="1772816"/>
            <a:ext cx="3571775" cy="4525963"/>
          </a:xfrm>
        </p:spPr>
        <p:txBody>
          <a:bodyPr>
            <a:normAutofit/>
          </a:bodyPr>
          <a:lstStyle/>
          <a:p>
            <a:r>
              <a:rPr lang="en-CA" sz="2800" dirty="0" smtClean="0"/>
              <a:t>Click the + button</a:t>
            </a:r>
          </a:p>
          <a:p>
            <a:r>
              <a:rPr lang="en-CA" sz="2800" dirty="0" smtClean="0"/>
              <a:t>Select Clone</a:t>
            </a:r>
            <a:endParaRPr lang="en-CA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3676"/>
            <a:ext cx="4029075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068960"/>
            <a:ext cx="4069677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2339752" y="2060848"/>
            <a:ext cx="3096344" cy="72008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843808" y="2782657"/>
            <a:ext cx="2690192" cy="718351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15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Clone a Repository</a:t>
            </a:r>
            <a:br>
              <a:rPr lang="en-CA" dirty="0" smtClean="0"/>
            </a:br>
            <a:r>
              <a:rPr lang="en-CA" dirty="0" smtClean="0"/>
              <a:t>step 2 -</a:t>
            </a:r>
            <a:r>
              <a:rPr lang="en-CA" dirty="0" err="1" smtClean="0"/>
              <a:t>SourceTree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2120" y="1772816"/>
            <a:ext cx="3312368" cy="4525963"/>
          </a:xfrm>
        </p:spPr>
        <p:txBody>
          <a:bodyPr>
            <a:normAutofit/>
          </a:bodyPr>
          <a:lstStyle/>
          <a:p>
            <a:r>
              <a:rPr lang="en-CA" sz="2800" dirty="0" smtClean="0"/>
              <a:t>Paste the </a:t>
            </a:r>
            <a:r>
              <a:rPr lang="en-CA" sz="2800" dirty="0" err="1" smtClean="0"/>
              <a:t>github</a:t>
            </a:r>
            <a:r>
              <a:rPr lang="en-CA" sz="2800" dirty="0" smtClean="0"/>
              <a:t> repository </a:t>
            </a:r>
            <a:r>
              <a:rPr lang="en-CA" sz="2800" dirty="0" err="1" smtClean="0"/>
              <a:t>url</a:t>
            </a:r>
            <a:r>
              <a:rPr lang="en-CA" sz="2800" dirty="0" smtClean="0"/>
              <a:t> here</a:t>
            </a:r>
          </a:p>
          <a:p>
            <a:r>
              <a:rPr lang="en-CA" sz="2800" dirty="0" smtClean="0"/>
              <a:t>The other fields should update automatically</a:t>
            </a:r>
          </a:p>
          <a:p>
            <a:r>
              <a:rPr lang="en-CA" sz="2800" dirty="0" smtClean="0"/>
              <a:t>Click Clone</a:t>
            </a:r>
            <a:endParaRPr lang="en-CA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0" y="1556792"/>
            <a:ext cx="5564895" cy="475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2843808" y="2348880"/>
            <a:ext cx="3024336" cy="1152128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1331640" y="4437112"/>
            <a:ext cx="4680520" cy="1656184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54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128" y="116632"/>
            <a:ext cx="3265496" cy="114300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Working with </a:t>
            </a:r>
            <a:r>
              <a:rPr lang="en-CA" dirty="0" err="1" smtClean="0"/>
              <a:t>SourceTree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2120" y="1772816"/>
            <a:ext cx="3312368" cy="45259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CA" sz="2800" dirty="0" smtClean="0"/>
              <a:t>Buttons used most often</a:t>
            </a:r>
          </a:p>
          <a:p>
            <a:pPr marL="457200" indent="-457200">
              <a:buAutoNum type="arabicPeriod"/>
            </a:pPr>
            <a:r>
              <a:rPr lang="en-CA" sz="2800" dirty="0" smtClean="0"/>
              <a:t>Different views of window 4</a:t>
            </a:r>
          </a:p>
          <a:p>
            <a:pPr marL="457200" indent="-457200">
              <a:buAutoNum type="arabicPeriod"/>
            </a:pPr>
            <a:r>
              <a:rPr lang="en-CA" sz="2800" dirty="0" smtClean="0"/>
              <a:t>Shows all the branches in </a:t>
            </a:r>
            <a:r>
              <a:rPr lang="en-CA" sz="2800" dirty="0" err="1" smtClean="0"/>
              <a:t>github</a:t>
            </a:r>
            <a:r>
              <a:rPr lang="en-CA" sz="2800" dirty="0" smtClean="0"/>
              <a:t> or on your laptop</a:t>
            </a:r>
          </a:p>
          <a:p>
            <a:pPr marL="457200" indent="-457200">
              <a:buAutoNum type="arabicPeriod"/>
            </a:pPr>
            <a:r>
              <a:rPr lang="en-CA" sz="2800" dirty="0" smtClean="0"/>
              <a:t>List of all commits (changes) made</a:t>
            </a:r>
          </a:p>
          <a:p>
            <a:pPr marL="457200" indent="-457200">
              <a:buAutoNum type="arabicPeriod"/>
            </a:pPr>
            <a:r>
              <a:rPr lang="en-CA" sz="2800" dirty="0" smtClean="0"/>
              <a:t>List of files changed on your laptop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CA" sz="3100" dirty="0" smtClean="0"/>
              <a:t>List of files ready to commit</a:t>
            </a:r>
          </a:p>
          <a:p>
            <a:pPr marL="457200" indent="-457200">
              <a:buAutoNum type="arabicPeriod"/>
            </a:pPr>
            <a:endParaRPr lang="en-CA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6" y="0"/>
            <a:ext cx="543197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83568" y="476672"/>
            <a:ext cx="2232248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4510" y="1133128"/>
            <a:ext cx="2901305" cy="927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-10666" y="2449884"/>
            <a:ext cx="3070498" cy="21312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3122600" y="1344960"/>
            <a:ext cx="2298704" cy="2516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/>
          <p:cNvSpPr/>
          <p:nvPr/>
        </p:nvSpPr>
        <p:spPr>
          <a:xfrm>
            <a:off x="3083868" y="4447058"/>
            <a:ext cx="2232248" cy="926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/>
          <p:cNvSpPr/>
          <p:nvPr/>
        </p:nvSpPr>
        <p:spPr>
          <a:xfrm>
            <a:off x="3052242" y="6093296"/>
            <a:ext cx="2232248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/>
          <p:cNvSpPr/>
          <p:nvPr/>
        </p:nvSpPr>
        <p:spPr>
          <a:xfrm>
            <a:off x="539552" y="523950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1</a:t>
            </a:r>
            <a:endParaRPr lang="en-CA" dirty="0"/>
          </a:p>
        </p:txBody>
      </p:sp>
      <p:sp>
        <p:nvSpPr>
          <p:cNvPr id="15" name="Oval 14"/>
          <p:cNvSpPr/>
          <p:nvPr/>
        </p:nvSpPr>
        <p:spPr>
          <a:xfrm>
            <a:off x="14510" y="1416968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2</a:t>
            </a:r>
            <a:endParaRPr lang="en-CA" dirty="0"/>
          </a:p>
        </p:txBody>
      </p:sp>
      <p:sp>
        <p:nvSpPr>
          <p:cNvPr id="16" name="Oval 15"/>
          <p:cNvSpPr/>
          <p:nvPr/>
        </p:nvSpPr>
        <p:spPr>
          <a:xfrm>
            <a:off x="1799692" y="3155465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3</a:t>
            </a:r>
            <a:endParaRPr lang="en-CA" dirty="0"/>
          </a:p>
        </p:txBody>
      </p:sp>
      <p:sp>
        <p:nvSpPr>
          <p:cNvPr id="17" name="Oval 16"/>
          <p:cNvSpPr/>
          <p:nvPr/>
        </p:nvSpPr>
        <p:spPr>
          <a:xfrm>
            <a:off x="3491880" y="2269864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4</a:t>
            </a:r>
            <a:endParaRPr lang="en-CA" dirty="0"/>
          </a:p>
        </p:txBody>
      </p:sp>
      <p:sp>
        <p:nvSpPr>
          <p:cNvPr id="18" name="Oval 17"/>
          <p:cNvSpPr/>
          <p:nvPr/>
        </p:nvSpPr>
        <p:spPr>
          <a:xfrm>
            <a:off x="4911080" y="6165304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5</a:t>
            </a:r>
            <a:endParaRPr lang="en-CA" dirty="0"/>
          </a:p>
        </p:txBody>
      </p:sp>
      <p:sp>
        <p:nvSpPr>
          <p:cNvPr id="20" name="Oval 19"/>
          <p:cNvSpPr/>
          <p:nvPr/>
        </p:nvSpPr>
        <p:spPr>
          <a:xfrm>
            <a:off x="4911080" y="4890638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6</a:t>
            </a:r>
            <a:endParaRPr lang="en-CA" dirty="0"/>
          </a:p>
        </p:txBody>
      </p:sp>
      <p:sp>
        <p:nvSpPr>
          <p:cNvPr id="21" name="Oval 20"/>
          <p:cNvSpPr/>
          <p:nvPr/>
        </p:nvSpPr>
        <p:spPr>
          <a:xfrm>
            <a:off x="5724128" y="1777008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1</a:t>
            </a:r>
            <a:endParaRPr lang="en-CA" dirty="0"/>
          </a:p>
        </p:txBody>
      </p:sp>
      <p:sp>
        <p:nvSpPr>
          <p:cNvPr id="22" name="Oval 21"/>
          <p:cNvSpPr/>
          <p:nvPr/>
        </p:nvSpPr>
        <p:spPr>
          <a:xfrm>
            <a:off x="5682629" y="2449884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2</a:t>
            </a:r>
            <a:endParaRPr lang="en-CA" dirty="0"/>
          </a:p>
        </p:txBody>
      </p:sp>
      <p:sp>
        <p:nvSpPr>
          <p:cNvPr id="23" name="Oval 22"/>
          <p:cNvSpPr/>
          <p:nvPr/>
        </p:nvSpPr>
        <p:spPr>
          <a:xfrm>
            <a:off x="5682629" y="3079265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3</a:t>
            </a:r>
            <a:endParaRPr lang="en-CA" dirty="0"/>
          </a:p>
        </p:txBody>
      </p:sp>
      <p:sp>
        <p:nvSpPr>
          <p:cNvPr id="24" name="Oval 23"/>
          <p:cNvSpPr/>
          <p:nvPr/>
        </p:nvSpPr>
        <p:spPr>
          <a:xfrm>
            <a:off x="7236296" y="2719225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4</a:t>
            </a:r>
            <a:endParaRPr lang="en-CA" dirty="0"/>
          </a:p>
        </p:txBody>
      </p:sp>
      <p:sp>
        <p:nvSpPr>
          <p:cNvPr id="25" name="Oval 24"/>
          <p:cNvSpPr/>
          <p:nvPr/>
        </p:nvSpPr>
        <p:spPr>
          <a:xfrm>
            <a:off x="5682629" y="4080172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4</a:t>
            </a:r>
            <a:endParaRPr lang="en-CA" dirty="0"/>
          </a:p>
        </p:txBody>
      </p:sp>
      <p:sp>
        <p:nvSpPr>
          <p:cNvPr id="26" name="Oval 25"/>
          <p:cNvSpPr/>
          <p:nvPr/>
        </p:nvSpPr>
        <p:spPr>
          <a:xfrm>
            <a:off x="5682629" y="4710618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5</a:t>
            </a:r>
            <a:endParaRPr lang="en-CA" dirty="0"/>
          </a:p>
        </p:txBody>
      </p:sp>
      <p:sp>
        <p:nvSpPr>
          <p:cNvPr id="27" name="Oval 26"/>
          <p:cNvSpPr/>
          <p:nvPr/>
        </p:nvSpPr>
        <p:spPr>
          <a:xfrm>
            <a:off x="5682629" y="5403078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10529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128" y="116632"/>
            <a:ext cx="3265496" cy="114300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Working with </a:t>
            </a:r>
            <a:r>
              <a:rPr lang="en-CA" dirty="0" err="1" smtClean="0"/>
              <a:t>SourceTree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72816"/>
            <a:ext cx="8640960" cy="4752528"/>
          </a:xfrm>
        </p:spPr>
        <p:txBody>
          <a:bodyPr>
            <a:normAutofit fontScale="92500" lnSpcReduction="10000"/>
          </a:bodyPr>
          <a:lstStyle/>
          <a:p>
            <a:r>
              <a:rPr lang="en-CA" sz="2800" dirty="0" smtClean="0"/>
              <a:t>A commit is a group of files saved to </a:t>
            </a:r>
            <a:r>
              <a:rPr lang="en-CA" sz="2800" dirty="0" err="1" smtClean="0"/>
              <a:t>github</a:t>
            </a:r>
            <a:r>
              <a:rPr lang="en-CA" sz="2800" dirty="0" smtClean="0"/>
              <a:t> at the same time</a:t>
            </a:r>
          </a:p>
          <a:p>
            <a:r>
              <a:rPr lang="en-CA" sz="2800" dirty="0" smtClean="0"/>
              <a:t>Fetch</a:t>
            </a:r>
          </a:p>
          <a:p>
            <a:pPr marL="914400" lvl="1" indent="-514350"/>
            <a:r>
              <a:rPr lang="en-CA" sz="2400" dirty="0" smtClean="0"/>
              <a:t>Will ensure the list of commits is up to date. If there are changes in </a:t>
            </a:r>
            <a:r>
              <a:rPr lang="en-CA" sz="2400" dirty="0" err="1" smtClean="0"/>
              <a:t>github</a:t>
            </a:r>
            <a:r>
              <a:rPr lang="en-CA" sz="2400" dirty="0" smtClean="0"/>
              <a:t>, a small number will appear beside the Pull button.</a:t>
            </a:r>
          </a:p>
          <a:p>
            <a:r>
              <a:rPr lang="en-CA" sz="2800" dirty="0" smtClean="0"/>
              <a:t>Pull</a:t>
            </a:r>
          </a:p>
          <a:p>
            <a:pPr lvl="1"/>
            <a:r>
              <a:rPr lang="en-CA" sz="2400" dirty="0" smtClean="0"/>
              <a:t>Will “pull” files from </a:t>
            </a:r>
            <a:r>
              <a:rPr lang="en-CA" sz="2400" dirty="0" err="1" smtClean="0"/>
              <a:t>github</a:t>
            </a:r>
            <a:r>
              <a:rPr lang="en-CA" sz="2400" dirty="0" smtClean="0"/>
              <a:t> to your laptop</a:t>
            </a:r>
          </a:p>
          <a:p>
            <a:r>
              <a:rPr lang="en-CA" sz="2800" dirty="0" smtClean="0"/>
              <a:t>Push</a:t>
            </a:r>
          </a:p>
          <a:p>
            <a:pPr lvl="1"/>
            <a:r>
              <a:rPr lang="en-CA" sz="2400" dirty="0" smtClean="0"/>
              <a:t>Will “push” committed files from your laptop to </a:t>
            </a:r>
            <a:r>
              <a:rPr lang="en-CA" sz="2400" dirty="0" err="1" smtClean="0"/>
              <a:t>github</a:t>
            </a:r>
            <a:endParaRPr lang="en-CA" sz="2400" dirty="0" smtClean="0"/>
          </a:p>
          <a:p>
            <a:r>
              <a:rPr lang="en-CA" sz="2800" dirty="0" smtClean="0"/>
              <a:t>Branch</a:t>
            </a:r>
          </a:p>
          <a:p>
            <a:pPr lvl="1"/>
            <a:r>
              <a:rPr lang="en-CA" sz="2400" dirty="0" smtClean="0"/>
              <a:t>Before making changes, create a new branch with a unique name (</a:t>
            </a:r>
            <a:r>
              <a:rPr lang="en-CA" sz="2400" dirty="0" err="1" smtClean="0"/>
              <a:t>eg</a:t>
            </a:r>
            <a:r>
              <a:rPr lang="en-CA" sz="2400" dirty="0" smtClean="0"/>
              <a:t>: feature/</a:t>
            </a:r>
            <a:r>
              <a:rPr lang="en-CA" sz="2400" dirty="0" err="1" smtClean="0"/>
              <a:t>rateupdates</a:t>
            </a:r>
            <a:r>
              <a:rPr lang="en-CA" sz="2400" dirty="0" smtClean="0"/>
              <a:t>). This ensures no files are merged into the main branch without proper review.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38" b="83472"/>
          <a:stretch/>
        </p:blipFill>
        <p:spPr bwMode="auto">
          <a:xfrm>
            <a:off x="323528" y="137232"/>
            <a:ext cx="3153916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17762" y="613904"/>
            <a:ext cx="2232248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/>
          <p:cNvSpPr/>
          <p:nvPr/>
        </p:nvSpPr>
        <p:spPr>
          <a:xfrm>
            <a:off x="3635896" y="433884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1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37446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8941" cy="3284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0" y="3356992"/>
            <a:ext cx="8949978" cy="33843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sz="2400" dirty="0" smtClean="0"/>
              <a:t>In the Workspace, select History</a:t>
            </a:r>
          </a:p>
          <a:p>
            <a:pPr marL="457200" lvl="1" indent="0">
              <a:buNone/>
            </a:pPr>
            <a:r>
              <a:rPr lang="en-CA" sz="2400" dirty="0" smtClean="0"/>
              <a:t>4 </a:t>
            </a:r>
            <a:r>
              <a:rPr lang="en-CA" sz="2000" dirty="0" smtClean="0"/>
              <a:t> List of commits made for this repository with relevant comments, the person who made the commit, and the date of the commit</a:t>
            </a:r>
          </a:p>
          <a:p>
            <a:pPr marL="457200" lvl="1" indent="0">
              <a:buNone/>
            </a:pPr>
            <a:r>
              <a:rPr lang="en-CA" sz="2000" dirty="0" smtClean="0"/>
              <a:t>5  List of files that are different between your computer and the </a:t>
            </a:r>
            <a:r>
              <a:rPr lang="en-CA" sz="2000" dirty="0" err="1" smtClean="0"/>
              <a:t>github</a:t>
            </a:r>
            <a:r>
              <a:rPr lang="en-CA" sz="2000" dirty="0" smtClean="0"/>
              <a:t> branch</a:t>
            </a:r>
          </a:p>
          <a:p>
            <a:pPr marL="457200" lvl="1" indent="0">
              <a:buNone/>
            </a:pPr>
            <a:r>
              <a:rPr lang="en-CA" sz="2000" dirty="0"/>
              <a:t>	</a:t>
            </a:r>
            <a:r>
              <a:rPr lang="en-CA" sz="2000" dirty="0" smtClean="0"/>
              <a:t>- files can be staged (ready to commit) by clicking the </a:t>
            </a:r>
            <a:r>
              <a:rPr lang="en-CA" sz="2000" b="1" dirty="0" smtClean="0"/>
              <a:t>Stage Selected </a:t>
            </a:r>
            <a:r>
              <a:rPr lang="en-CA" sz="2000" dirty="0" smtClean="0"/>
              <a:t>button</a:t>
            </a:r>
          </a:p>
          <a:p>
            <a:pPr marL="457200" lvl="1" indent="0">
              <a:buNone/>
            </a:pPr>
            <a:r>
              <a:rPr lang="en-CA" sz="2000" dirty="0" smtClean="0"/>
              <a:t>6  List of files that are ready to commit</a:t>
            </a:r>
          </a:p>
          <a:p>
            <a:pPr marL="457200" lvl="1" indent="0">
              <a:buNone/>
            </a:pPr>
            <a:r>
              <a:rPr lang="en-CA" sz="2000" dirty="0"/>
              <a:t>	</a:t>
            </a:r>
            <a:r>
              <a:rPr lang="en-CA" sz="2000" dirty="0" smtClean="0"/>
              <a:t>- files can be removed from the commit by clicking the </a:t>
            </a:r>
            <a:r>
              <a:rPr lang="en-CA" sz="2000" b="1" dirty="0" err="1" smtClean="0"/>
              <a:t>Unstage</a:t>
            </a:r>
            <a:r>
              <a:rPr lang="en-CA" sz="2000" b="1" dirty="0" smtClean="0"/>
              <a:t> Selected </a:t>
            </a:r>
            <a:r>
              <a:rPr lang="en-CA" sz="2000" dirty="0" smtClean="0"/>
              <a:t>button</a:t>
            </a:r>
          </a:p>
          <a:p>
            <a:pPr marL="457200" lvl="1" indent="0">
              <a:buNone/>
            </a:pPr>
            <a:r>
              <a:rPr lang="en-CA" sz="2000" dirty="0" smtClean="0"/>
              <a:t>7  Changes made to the selected file </a:t>
            </a:r>
          </a:p>
          <a:p>
            <a:pPr marL="457200" lvl="1" indent="0">
              <a:buNone/>
            </a:pPr>
            <a:r>
              <a:rPr lang="en-CA" sz="2000" dirty="0"/>
              <a:t>	</a:t>
            </a:r>
            <a:r>
              <a:rPr lang="en-CA" sz="2000" dirty="0" smtClean="0"/>
              <a:t>- red: code removed</a:t>
            </a:r>
          </a:p>
          <a:p>
            <a:pPr marL="457200" lvl="1" indent="0">
              <a:buNone/>
            </a:pPr>
            <a:r>
              <a:rPr lang="en-CA" sz="2000" dirty="0" smtClean="0"/>
              <a:t>	- green: code added</a:t>
            </a:r>
          </a:p>
          <a:p>
            <a:pPr lvl="2"/>
            <a:endParaRPr lang="en-CA" sz="2000" dirty="0" smtClean="0"/>
          </a:p>
        </p:txBody>
      </p:sp>
      <p:sp>
        <p:nvSpPr>
          <p:cNvPr id="21" name="Rectangle 20"/>
          <p:cNvSpPr/>
          <p:nvPr/>
        </p:nvSpPr>
        <p:spPr>
          <a:xfrm>
            <a:off x="2771800" y="0"/>
            <a:ext cx="6372200" cy="1777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/>
          <p:cNvSpPr/>
          <p:nvPr/>
        </p:nvSpPr>
        <p:spPr>
          <a:xfrm>
            <a:off x="3141080" y="924904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4</a:t>
            </a:r>
            <a:endParaRPr lang="en-CA" dirty="0"/>
          </a:p>
        </p:txBody>
      </p:sp>
      <p:sp>
        <p:nvSpPr>
          <p:cNvPr id="23" name="Rectangle 22"/>
          <p:cNvSpPr/>
          <p:nvPr/>
        </p:nvSpPr>
        <p:spPr>
          <a:xfrm>
            <a:off x="2771800" y="2052438"/>
            <a:ext cx="3312368" cy="566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/>
          <p:cNvSpPr/>
          <p:nvPr/>
        </p:nvSpPr>
        <p:spPr>
          <a:xfrm>
            <a:off x="2742196" y="2787748"/>
            <a:ext cx="3341972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/>
          <p:cNvSpPr/>
          <p:nvPr/>
        </p:nvSpPr>
        <p:spPr>
          <a:xfrm>
            <a:off x="4080470" y="2859756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5</a:t>
            </a:r>
            <a:endParaRPr lang="en-CA" dirty="0"/>
          </a:p>
        </p:txBody>
      </p:sp>
      <p:sp>
        <p:nvSpPr>
          <p:cNvPr id="26" name="Oval 25"/>
          <p:cNvSpPr/>
          <p:nvPr/>
        </p:nvSpPr>
        <p:spPr>
          <a:xfrm>
            <a:off x="4032498" y="2155476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6</a:t>
            </a:r>
            <a:endParaRPr lang="en-CA" dirty="0"/>
          </a:p>
        </p:txBody>
      </p:sp>
      <p:sp>
        <p:nvSpPr>
          <p:cNvPr id="27" name="Oval 26"/>
          <p:cNvSpPr/>
          <p:nvPr/>
        </p:nvSpPr>
        <p:spPr>
          <a:xfrm>
            <a:off x="6876256" y="2834553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7</a:t>
            </a:r>
            <a:endParaRPr lang="en-CA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971600" y="620688"/>
            <a:ext cx="1656184" cy="2808312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63080" y="3715308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4</a:t>
            </a:r>
            <a:endParaRPr lang="en-CA" dirty="0"/>
          </a:p>
        </p:txBody>
      </p:sp>
      <p:sp>
        <p:nvSpPr>
          <p:cNvPr id="32" name="Oval 31"/>
          <p:cNvSpPr/>
          <p:nvPr/>
        </p:nvSpPr>
        <p:spPr>
          <a:xfrm>
            <a:off x="463080" y="4350990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5</a:t>
            </a:r>
            <a:endParaRPr lang="en-CA" dirty="0"/>
          </a:p>
        </p:txBody>
      </p:sp>
      <p:sp>
        <p:nvSpPr>
          <p:cNvPr id="33" name="Oval 32"/>
          <p:cNvSpPr/>
          <p:nvPr/>
        </p:nvSpPr>
        <p:spPr>
          <a:xfrm>
            <a:off x="467544" y="5059621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6</a:t>
            </a:r>
            <a:endParaRPr lang="en-CA" dirty="0"/>
          </a:p>
        </p:txBody>
      </p:sp>
      <p:sp>
        <p:nvSpPr>
          <p:cNvPr id="34" name="Oval 33"/>
          <p:cNvSpPr/>
          <p:nvPr/>
        </p:nvSpPr>
        <p:spPr>
          <a:xfrm>
            <a:off x="465312" y="5625405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7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53688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9" y="2965"/>
            <a:ext cx="9083823" cy="335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0" y="3356992"/>
            <a:ext cx="8949978" cy="338437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CA" sz="2400" dirty="0" smtClean="0"/>
              <a:t>In the Workspace, select File Status</a:t>
            </a:r>
          </a:p>
          <a:p>
            <a:pPr marL="57150" indent="0">
              <a:buNone/>
            </a:pPr>
            <a:r>
              <a:rPr lang="en-CA" sz="2400" dirty="0" smtClean="0"/>
              <a:t>5  List of files that are different between your computer and the </a:t>
            </a:r>
            <a:r>
              <a:rPr lang="en-CA" sz="2400" dirty="0" err="1" smtClean="0"/>
              <a:t>github</a:t>
            </a:r>
            <a:r>
              <a:rPr lang="en-CA" sz="2400" dirty="0" smtClean="0"/>
              <a:t> branch</a:t>
            </a:r>
          </a:p>
          <a:p>
            <a:pPr marL="0" indent="0">
              <a:buNone/>
            </a:pPr>
            <a:r>
              <a:rPr lang="en-CA" sz="2400" dirty="0" smtClean="0"/>
              <a:t>      - files can be staged (ready to commit) by clicking the </a:t>
            </a:r>
            <a:r>
              <a:rPr lang="en-CA" sz="2400" b="1" dirty="0" smtClean="0"/>
              <a:t>Stage Selected</a:t>
            </a:r>
            <a:r>
              <a:rPr lang="en-CA" sz="2400" dirty="0" smtClean="0"/>
              <a:t> button</a:t>
            </a:r>
          </a:p>
          <a:p>
            <a:pPr marL="57150" indent="0">
              <a:buNone/>
            </a:pPr>
            <a:r>
              <a:rPr lang="en-CA" sz="2400" dirty="0" smtClean="0"/>
              <a:t>6  List of files that are ready to commit</a:t>
            </a:r>
          </a:p>
          <a:p>
            <a:pPr marL="57150" indent="0">
              <a:buNone/>
            </a:pPr>
            <a:r>
              <a:rPr lang="en-CA" sz="2400" dirty="0" smtClean="0"/>
              <a:t>     - files can be removed from the commit by clicking the </a:t>
            </a:r>
            <a:r>
              <a:rPr lang="en-CA" sz="2400" b="1" dirty="0" err="1" smtClean="0"/>
              <a:t>Unstage</a:t>
            </a:r>
            <a:r>
              <a:rPr lang="en-CA" sz="2400" b="1" dirty="0" smtClean="0"/>
              <a:t> Selected </a:t>
            </a:r>
            <a:r>
              <a:rPr lang="en-CA" sz="2400" dirty="0" smtClean="0"/>
              <a:t>button</a:t>
            </a:r>
          </a:p>
          <a:p>
            <a:pPr marL="57150" indent="0">
              <a:buNone/>
            </a:pPr>
            <a:r>
              <a:rPr lang="en-CA" sz="2400" dirty="0" smtClean="0"/>
              <a:t>7  Changes made to the selected file </a:t>
            </a:r>
          </a:p>
          <a:p>
            <a:pPr marL="57150" indent="0">
              <a:buNone/>
            </a:pPr>
            <a:r>
              <a:rPr lang="en-CA" sz="2400" dirty="0" smtClean="0"/>
              <a:t>     - red: code removed</a:t>
            </a:r>
          </a:p>
          <a:p>
            <a:pPr marL="57150" indent="0">
              <a:buNone/>
            </a:pPr>
            <a:r>
              <a:rPr lang="en-CA" sz="2400" dirty="0" smtClean="0"/>
              <a:t>     - green: code added</a:t>
            </a:r>
          </a:p>
          <a:p>
            <a:pPr marL="57150" indent="0">
              <a:buNone/>
            </a:pPr>
            <a:r>
              <a:rPr lang="en-CA" sz="2400" dirty="0" smtClean="0"/>
              <a:t>8  Type a relevant comment here, them press the </a:t>
            </a:r>
            <a:r>
              <a:rPr lang="en-CA" sz="2400" b="1" dirty="0" smtClean="0"/>
              <a:t>Commit</a:t>
            </a:r>
            <a:r>
              <a:rPr lang="en-CA" sz="2400" dirty="0" smtClean="0"/>
              <a:t> Button</a:t>
            </a:r>
          </a:p>
          <a:p>
            <a:pPr lvl="2"/>
            <a:endParaRPr lang="en-CA" sz="2000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2376314" y="188640"/>
            <a:ext cx="2555726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/>
          <p:cNvSpPr/>
          <p:nvPr/>
        </p:nvSpPr>
        <p:spPr>
          <a:xfrm>
            <a:off x="2405140" y="1155300"/>
            <a:ext cx="2526900" cy="7615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/>
          <p:cNvSpPr/>
          <p:nvPr/>
        </p:nvSpPr>
        <p:spPr>
          <a:xfrm>
            <a:off x="3679767" y="1389347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5</a:t>
            </a:r>
            <a:endParaRPr lang="en-CA" dirty="0"/>
          </a:p>
        </p:txBody>
      </p:sp>
      <p:sp>
        <p:nvSpPr>
          <p:cNvPr id="26" name="Oval 25"/>
          <p:cNvSpPr/>
          <p:nvPr/>
        </p:nvSpPr>
        <p:spPr>
          <a:xfrm>
            <a:off x="3856764" y="625460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6</a:t>
            </a:r>
            <a:endParaRPr lang="en-CA" dirty="0"/>
          </a:p>
        </p:txBody>
      </p:sp>
      <p:sp>
        <p:nvSpPr>
          <p:cNvPr id="27" name="Oval 26"/>
          <p:cNvSpPr/>
          <p:nvPr/>
        </p:nvSpPr>
        <p:spPr>
          <a:xfrm>
            <a:off x="8316416" y="980728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7</a:t>
            </a:r>
            <a:endParaRPr lang="en-CA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827584" y="404664"/>
            <a:ext cx="1800200" cy="3024336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5362" y="3653028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5</a:t>
            </a:r>
            <a:endParaRPr lang="en-CA" dirty="0"/>
          </a:p>
        </p:txBody>
      </p:sp>
      <p:sp>
        <p:nvSpPr>
          <p:cNvPr id="33" name="Oval 32"/>
          <p:cNvSpPr/>
          <p:nvPr/>
        </p:nvSpPr>
        <p:spPr>
          <a:xfrm>
            <a:off x="75089" y="4340243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6</a:t>
            </a:r>
            <a:endParaRPr lang="en-CA" dirty="0"/>
          </a:p>
        </p:txBody>
      </p:sp>
      <p:sp>
        <p:nvSpPr>
          <p:cNvPr id="34" name="Oval 33"/>
          <p:cNvSpPr/>
          <p:nvPr/>
        </p:nvSpPr>
        <p:spPr>
          <a:xfrm>
            <a:off x="65362" y="5013176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7</a:t>
            </a:r>
            <a:endParaRPr lang="en-CA" dirty="0"/>
          </a:p>
        </p:txBody>
      </p:sp>
      <p:sp>
        <p:nvSpPr>
          <p:cNvPr id="29" name="Oval 28"/>
          <p:cNvSpPr/>
          <p:nvPr/>
        </p:nvSpPr>
        <p:spPr>
          <a:xfrm>
            <a:off x="3544135" y="2420888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8</a:t>
            </a:r>
            <a:endParaRPr lang="en-CA" dirty="0"/>
          </a:p>
        </p:txBody>
      </p:sp>
      <p:sp>
        <p:nvSpPr>
          <p:cNvPr id="30" name="Oval 29"/>
          <p:cNvSpPr/>
          <p:nvPr/>
        </p:nvSpPr>
        <p:spPr>
          <a:xfrm>
            <a:off x="75902" y="6021288"/>
            <a:ext cx="288032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8</a:t>
            </a:r>
            <a:endParaRPr lang="en-CA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8784468" y="3501008"/>
            <a:ext cx="0" cy="2700300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948264" y="6201308"/>
            <a:ext cx="1836204" cy="0"/>
          </a:xfrm>
          <a:prstGeom prst="straightConnector1">
            <a:avLst/>
          </a:prstGeom>
          <a:ln w="476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340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sz="2800" dirty="0" smtClean="0"/>
              <a:t>Get the code: </a:t>
            </a:r>
            <a:r>
              <a:rPr lang="en-CA" sz="2800" dirty="0" err="1" smtClean="0"/>
              <a:t>SourceTree</a:t>
            </a:r>
            <a:endParaRPr lang="en-CA" sz="2800" dirty="0" smtClean="0"/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CA" sz="2400" dirty="0" smtClean="0"/>
              <a:t>Select the working branch (usually main)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CA" sz="2400" dirty="0" smtClean="0"/>
              <a:t>Click the </a:t>
            </a:r>
            <a:r>
              <a:rPr lang="en-CA" sz="2400" b="1" dirty="0" smtClean="0"/>
              <a:t>Fetch</a:t>
            </a:r>
            <a:r>
              <a:rPr lang="en-CA" sz="2400" dirty="0" smtClean="0"/>
              <a:t> button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CA" sz="2400" dirty="0" smtClean="0"/>
              <a:t>If your laptop is out of date, click the </a:t>
            </a:r>
            <a:r>
              <a:rPr lang="en-CA" sz="2400" b="1" dirty="0" smtClean="0"/>
              <a:t>Pull</a:t>
            </a:r>
            <a:r>
              <a:rPr lang="en-CA" sz="2400" dirty="0" smtClean="0"/>
              <a:t> button to synchronize with </a:t>
            </a:r>
            <a:r>
              <a:rPr lang="en-CA" sz="2400" dirty="0" err="1" smtClean="0"/>
              <a:t>github</a:t>
            </a:r>
            <a:endParaRPr lang="en-CA" sz="2400" dirty="0" smtClean="0"/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CA" sz="2400" dirty="0" smtClean="0"/>
              <a:t>Create a new branch (use the Branch button</a:t>
            </a:r>
            <a:r>
              <a:rPr lang="en-CA" sz="2400" dirty="0" smtClean="0"/>
              <a:t>): call it your name</a:t>
            </a:r>
            <a:endParaRPr lang="en-CA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CA" sz="2800" dirty="0" smtClean="0"/>
              <a:t>Start coding: </a:t>
            </a:r>
            <a:r>
              <a:rPr lang="en-CA" sz="2800" dirty="0" err="1" smtClean="0"/>
              <a:t>VSCode</a:t>
            </a:r>
            <a:r>
              <a:rPr lang="en-CA" sz="2800" dirty="0" smtClean="0"/>
              <a:t>!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CA" sz="2400" dirty="0" smtClean="0"/>
              <a:t>See Karina’s examples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800" dirty="0" smtClean="0"/>
              <a:t>Put changes in </a:t>
            </a:r>
            <a:r>
              <a:rPr lang="en-CA" sz="2800" dirty="0" err="1" smtClean="0"/>
              <a:t>github</a:t>
            </a:r>
            <a:r>
              <a:rPr lang="en-CA" sz="2800" dirty="0" smtClean="0"/>
              <a:t>: </a:t>
            </a:r>
            <a:r>
              <a:rPr lang="en-CA" sz="2800" dirty="0" err="1" smtClean="0"/>
              <a:t>SourceTree</a:t>
            </a:r>
            <a:endParaRPr lang="en-CA" sz="2800" dirty="0" smtClean="0"/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CA" sz="2400" b="1" dirty="0" smtClean="0"/>
              <a:t>Stage</a:t>
            </a:r>
            <a:r>
              <a:rPr lang="en-CA" sz="2400" dirty="0" smtClean="0"/>
              <a:t> files (check changes first!)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CA" sz="2400" dirty="0" smtClean="0"/>
              <a:t>Write a short description of the changes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CA" sz="2400" b="1" dirty="0" smtClean="0"/>
              <a:t>Commit</a:t>
            </a:r>
            <a:r>
              <a:rPr lang="en-CA" sz="2400" dirty="0" smtClean="0"/>
              <a:t> the files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en-CA" sz="2400" b="1" dirty="0" smtClean="0"/>
              <a:t>Push</a:t>
            </a:r>
            <a:r>
              <a:rPr lang="en-CA" sz="2400" dirty="0" smtClean="0"/>
              <a:t> the commit to </a:t>
            </a:r>
            <a:r>
              <a:rPr lang="en-CA" sz="2400" dirty="0" err="1" smtClean="0"/>
              <a:t>github</a:t>
            </a:r>
            <a:r>
              <a:rPr lang="en-CA" sz="2400" dirty="0" smtClean="0"/>
              <a:t> </a:t>
            </a:r>
          </a:p>
          <a:p>
            <a:pPr marL="1314450" lvl="2" indent="-514350"/>
            <a:r>
              <a:rPr lang="en-CA" sz="2000" dirty="0" smtClean="0"/>
              <a:t>(you can verify they are there by </a:t>
            </a:r>
          </a:p>
          <a:p>
            <a:pPr marL="800100" lvl="2" indent="0">
              <a:buNone/>
            </a:pPr>
            <a:r>
              <a:rPr lang="en-CA" sz="2000" dirty="0"/>
              <a:t> </a:t>
            </a:r>
            <a:r>
              <a:rPr lang="en-CA" sz="2000" dirty="0" smtClean="0"/>
              <a:t>           going to your branch in </a:t>
            </a:r>
            <a:r>
              <a:rPr lang="en-CA" sz="2000" dirty="0" err="1" smtClean="0"/>
              <a:t>github</a:t>
            </a:r>
            <a:r>
              <a:rPr lang="en-CA" sz="2000" dirty="0" smtClean="0"/>
              <a:t>)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CA" dirty="0" smtClean="0"/>
              <a:t>Basic Procedure</a:t>
            </a:r>
            <a:endParaRPr lang="en-CA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941168"/>
            <a:ext cx="3923779" cy="178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>
            <a:off x="3419872" y="5949280"/>
            <a:ext cx="3618073" cy="432048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72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545367"/>
            <a:ext cx="8229600" cy="4061048"/>
          </a:xfrm>
        </p:spPr>
        <p:txBody>
          <a:bodyPr>
            <a:normAutofit/>
          </a:bodyPr>
          <a:lstStyle/>
          <a:p>
            <a:pPr marL="514350" indent="-514350"/>
            <a:r>
              <a:rPr lang="en-CA" sz="2800" dirty="0" smtClean="0"/>
              <a:t>Select the new branch </a:t>
            </a:r>
          </a:p>
          <a:p>
            <a:pPr marL="514350" indent="-514350"/>
            <a:r>
              <a:rPr lang="en-CA" sz="2800" dirty="0" smtClean="0"/>
              <a:t>Click on the </a:t>
            </a:r>
            <a:r>
              <a:rPr lang="en-CA" sz="2800" b="1" dirty="0" smtClean="0"/>
              <a:t>three dots</a:t>
            </a:r>
            <a:r>
              <a:rPr lang="en-CA" sz="2800" dirty="0" smtClean="0"/>
              <a:t>, then </a:t>
            </a:r>
            <a:r>
              <a:rPr lang="en-CA" sz="2800" b="1" dirty="0" smtClean="0"/>
              <a:t>New Pull Request</a:t>
            </a:r>
          </a:p>
          <a:p>
            <a:pPr marL="514350" indent="-514350"/>
            <a:r>
              <a:rPr lang="en-CA" sz="2800" dirty="0" smtClean="0"/>
              <a:t>Add a title and description</a:t>
            </a:r>
          </a:p>
          <a:p>
            <a:pPr marL="514350" indent="-514350"/>
            <a:r>
              <a:rPr lang="en-CA" sz="2800" dirty="0" smtClean="0"/>
              <a:t>Select reviewers to check your changes</a:t>
            </a:r>
          </a:p>
          <a:p>
            <a:pPr marL="514350" indent="-514350"/>
            <a:r>
              <a:rPr lang="en-CA" sz="2800" dirty="0" smtClean="0"/>
              <a:t>Click on the </a:t>
            </a:r>
          </a:p>
          <a:p>
            <a:pPr marL="0" indent="0">
              <a:buNone/>
            </a:pPr>
            <a:r>
              <a:rPr lang="en-CA" sz="2800" b="1" dirty="0" smtClean="0"/>
              <a:t>Create pull request </a:t>
            </a:r>
          </a:p>
          <a:p>
            <a:pPr marL="0" indent="0">
              <a:buNone/>
            </a:pPr>
            <a:r>
              <a:rPr lang="en-CA" sz="2800" dirty="0" smtClean="0"/>
              <a:t>button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CA" sz="2400" dirty="0" smtClean="0"/>
          </a:p>
          <a:p>
            <a:pPr marL="914400" lvl="1" indent="-514350">
              <a:buFont typeface="+mj-lt"/>
              <a:buAutoNum type="arabicPeriod"/>
            </a:pPr>
            <a:endParaRPr lang="en-CA" sz="2400" dirty="0" smtClean="0"/>
          </a:p>
          <a:p>
            <a:pPr marL="514350" indent="-514350">
              <a:buFont typeface="+mj-lt"/>
              <a:buAutoNum type="arabicPeriod"/>
            </a:pPr>
            <a:endParaRPr lang="en-CA" sz="28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5496" y="432942"/>
            <a:ext cx="3888432" cy="70609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Ask for a code </a:t>
            </a:r>
            <a:r>
              <a:rPr lang="en-CA" dirty="0" smtClean="0"/>
              <a:t>review</a:t>
            </a:r>
            <a:br>
              <a:rPr lang="en-CA" dirty="0" smtClean="0"/>
            </a:br>
            <a:r>
              <a:rPr lang="en-CA" sz="2200" dirty="0" smtClean="0"/>
              <a:t>“</a:t>
            </a:r>
            <a:r>
              <a:rPr lang="en-CA" sz="2200" dirty="0" smtClean="0"/>
              <a:t>correcting your homework”</a:t>
            </a:r>
            <a:endParaRPr lang="en-CA" sz="2200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680" y="0"/>
            <a:ext cx="5509303" cy="1167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819" y="3575891"/>
            <a:ext cx="5219163" cy="3295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6660232" y="3212976"/>
            <a:ext cx="2232248" cy="504056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979712" y="4437112"/>
            <a:ext cx="4104456" cy="2232248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386331" y="980728"/>
            <a:ext cx="1786069" cy="936104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350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725144"/>
            <a:ext cx="5993221" cy="1521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098" y="1335907"/>
            <a:ext cx="33337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364097"/>
            <a:ext cx="8229600" cy="4061048"/>
          </a:xfrm>
        </p:spPr>
        <p:txBody>
          <a:bodyPr>
            <a:normAutofit/>
          </a:bodyPr>
          <a:lstStyle/>
          <a:p>
            <a:pPr marL="514350" indent="-514350"/>
            <a:r>
              <a:rPr lang="en-CA" sz="2800" dirty="0" smtClean="0"/>
              <a:t>Select </a:t>
            </a:r>
            <a:r>
              <a:rPr lang="en-CA" sz="2800" b="1" dirty="0" smtClean="0"/>
              <a:t>Pull requests </a:t>
            </a:r>
          </a:p>
          <a:p>
            <a:pPr marL="514350" indent="-514350"/>
            <a:endParaRPr lang="en-CA" sz="2800" dirty="0" smtClean="0"/>
          </a:p>
          <a:p>
            <a:pPr marL="514350" indent="-514350"/>
            <a:r>
              <a:rPr lang="en-CA" sz="2800" dirty="0" smtClean="0"/>
              <a:t>Select the pull request to review</a:t>
            </a:r>
          </a:p>
          <a:p>
            <a:pPr marL="514350" indent="-514350"/>
            <a:endParaRPr lang="en-CA" sz="2800" dirty="0" smtClean="0"/>
          </a:p>
          <a:p>
            <a:pPr marL="514350" indent="-514350"/>
            <a:r>
              <a:rPr lang="en-CA" sz="2800" dirty="0" smtClean="0"/>
              <a:t>Select </a:t>
            </a:r>
            <a:r>
              <a:rPr lang="en-CA" sz="2800" b="1" dirty="0" smtClean="0"/>
              <a:t>Files changed</a:t>
            </a:r>
            <a:r>
              <a:rPr lang="en-CA" sz="2800" dirty="0" smtClean="0"/>
              <a:t>. A list of the new/deleted/changed files will appear</a:t>
            </a:r>
          </a:p>
          <a:p>
            <a:pPr marL="514350" indent="-514350"/>
            <a:endParaRPr lang="en-CA" sz="2800" dirty="0"/>
          </a:p>
          <a:p>
            <a:pPr marL="514350" indent="-514350"/>
            <a:endParaRPr lang="en-CA" sz="2800" dirty="0" smtClean="0"/>
          </a:p>
          <a:p>
            <a:pPr marL="514350" indent="-514350"/>
            <a:endParaRPr lang="en-CA" sz="2800" dirty="0"/>
          </a:p>
          <a:p>
            <a:pPr marL="514350" indent="-514350"/>
            <a:endParaRPr lang="en-CA" sz="2800" dirty="0" smtClean="0"/>
          </a:p>
          <a:p>
            <a:pPr marL="514350" indent="-514350"/>
            <a:endParaRPr lang="en-CA" sz="2800" dirty="0"/>
          </a:p>
          <a:p>
            <a:pPr marL="514350" indent="-514350"/>
            <a:endParaRPr lang="en-CA" sz="2800" dirty="0" smtClean="0"/>
          </a:p>
          <a:p>
            <a:pPr marL="514350" indent="-514350"/>
            <a:endParaRPr lang="en-CA" sz="2800" dirty="0" smtClean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CA" sz="2400" dirty="0" smtClean="0"/>
          </a:p>
          <a:p>
            <a:pPr marL="914400" lvl="1" indent="-514350">
              <a:buFont typeface="+mj-lt"/>
              <a:buAutoNum type="arabicPeriod"/>
            </a:pPr>
            <a:endParaRPr lang="en-CA" sz="2400" dirty="0" smtClean="0"/>
          </a:p>
          <a:p>
            <a:pPr marL="514350" indent="-514350">
              <a:buFont typeface="+mj-lt"/>
              <a:buAutoNum type="arabicPeriod"/>
            </a:pPr>
            <a:endParaRPr lang="en-CA" sz="28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7504" y="230932"/>
            <a:ext cx="8712968" cy="96582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Reviewing a Pull Request </a:t>
            </a:r>
            <a:br>
              <a:rPr lang="en-CA" dirty="0" smtClean="0"/>
            </a:br>
            <a:r>
              <a:rPr lang="en-CA" dirty="0" smtClean="0"/>
              <a:t>–do not review your own work</a:t>
            </a:r>
            <a:endParaRPr lang="en-CA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645025" y="1667347"/>
            <a:ext cx="3735287" cy="393501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563888" y="3861048"/>
            <a:ext cx="2664296" cy="1872208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262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84784"/>
            <a:ext cx="4952603" cy="4065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36096" y="1364097"/>
            <a:ext cx="3707904" cy="4061048"/>
          </a:xfrm>
        </p:spPr>
        <p:txBody>
          <a:bodyPr>
            <a:normAutofit/>
          </a:bodyPr>
          <a:lstStyle/>
          <a:p>
            <a:pPr marL="514350" indent="-514350"/>
            <a:r>
              <a:rPr lang="en-CA" sz="2400" dirty="0" smtClean="0"/>
              <a:t>Select </a:t>
            </a:r>
            <a:r>
              <a:rPr lang="en-CA" sz="2400" b="1" dirty="0" smtClean="0"/>
              <a:t>Review changes</a:t>
            </a:r>
          </a:p>
          <a:p>
            <a:pPr marL="514350" indent="-514350"/>
            <a:r>
              <a:rPr lang="en-CA" sz="2400" dirty="0" smtClean="0"/>
              <a:t>There are three choices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 smtClean="0"/>
              <a:t>Leave a </a:t>
            </a:r>
            <a:r>
              <a:rPr lang="en-CA" sz="2400" b="1" dirty="0" smtClean="0"/>
              <a:t>comment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b="1" dirty="0" smtClean="0"/>
              <a:t>Approve</a:t>
            </a:r>
            <a:r>
              <a:rPr lang="en-CA" sz="2400" dirty="0" smtClean="0"/>
              <a:t> the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b="1" dirty="0" smtClean="0"/>
              <a:t>Request changes </a:t>
            </a:r>
            <a:r>
              <a:rPr lang="en-CA" sz="2400" dirty="0" smtClean="0"/>
              <a:t/>
            </a:r>
            <a:br>
              <a:rPr lang="en-CA" sz="2400" dirty="0" smtClean="0"/>
            </a:br>
            <a:r>
              <a:rPr lang="en-CA" sz="2400" dirty="0" smtClean="0"/>
              <a:t>(make the request in the comment box)</a:t>
            </a:r>
          </a:p>
          <a:p>
            <a:pPr marL="514350" indent="-514350"/>
            <a:r>
              <a:rPr lang="en-CA" sz="2400" dirty="0" smtClean="0"/>
              <a:t>Select </a:t>
            </a:r>
            <a:r>
              <a:rPr lang="en-CA" sz="2400" b="1" dirty="0" smtClean="0"/>
              <a:t>Submit review</a:t>
            </a:r>
          </a:p>
          <a:p>
            <a:pPr marL="514350" indent="-514350"/>
            <a:endParaRPr lang="en-CA" sz="2400" dirty="0"/>
          </a:p>
          <a:p>
            <a:pPr marL="514350" indent="-514350"/>
            <a:endParaRPr lang="en-CA" sz="2400" dirty="0" smtClean="0"/>
          </a:p>
          <a:p>
            <a:pPr marL="514350" indent="-514350"/>
            <a:endParaRPr lang="en-CA" sz="2400" dirty="0"/>
          </a:p>
          <a:p>
            <a:pPr marL="514350" indent="-514350"/>
            <a:endParaRPr lang="en-CA" sz="2400" dirty="0" smtClean="0"/>
          </a:p>
          <a:p>
            <a:pPr marL="514350" indent="-514350"/>
            <a:endParaRPr lang="en-CA" sz="2400" dirty="0"/>
          </a:p>
          <a:p>
            <a:pPr marL="514350" indent="-514350"/>
            <a:endParaRPr lang="en-CA" sz="2400" dirty="0" smtClean="0"/>
          </a:p>
          <a:p>
            <a:pPr marL="514350" indent="-514350"/>
            <a:endParaRPr lang="en-CA" sz="2400" dirty="0" smtClean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CA" sz="2000" dirty="0" smtClean="0"/>
          </a:p>
          <a:p>
            <a:pPr marL="914400" lvl="1" indent="-514350">
              <a:buFont typeface="+mj-lt"/>
              <a:buAutoNum type="arabicPeriod"/>
            </a:pPr>
            <a:endParaRPr lang="en-CA" sz="2000" dirty="0" smtClean="0"/>
          </a:p>
          <a:p>
            <a:pPr marL="514350" indent="-514350">
              <a:buFont typeface="+mj-lt"/>
              <a:buAutoNum type="arabicPeriod"/>
            </a:pPr>
            <a:endParaRPr lang="en-CA" sz="24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7504" y="230932"/>
            <a:ext cx="3322712" cy="70609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Reviewing a Pull Request</a:t>
            </a:r>
            <a:endParaRPr lang="en-CA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132116" y="1700808"/>
            <a:ext cx="808036" cy="0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860032" y="4653136"/>
            <a:ext cx="1080120" cy="540060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63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5" y="1340768"/>
            <a:ext cx="5133975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36096" y="1364096"/>
            <a:ext cx="3707904" cy="43691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2400" dirty="0" smtClean="0"/>
              <a:t>After your pull request has been approved by a reviewer:</a:t>
            </a:r>
          </a:p>
          <a:p>
            <a:pPr marL="514350" indent="-514350"/>
            <a:r>
              <a:rPr lang="en-CA" sz="2400" dirty="0" smtClean="0"/>
              <a:t>If there are conflicts, they must be resolved before you can merge</a:t>
            </a:r>
          </a:p>
          <a:p>
            <a:pPr marL="514350" indent="-514350"/>
            <a:r>
              <a:rPr lang="en-CA" sz="2400" dirty="0" smtClean="0"/>
              <a:t>If there are no conflicts, click </a:t>
            </a:r>
            <a:r>
              <a:rPr lang="en-CA" sz="2400" b="1" dirty="0" smtClean="0"/>
              <a:t>Merge pull request</a:t>
            </a:r>
          </a:p>
          <a:p>
            <a:pPr marL="914400" lvl="1" indent="-360000">
              <a:buFont typeface="Wingdings" panose="05000000000000000000" pitchFamily="2" charset="2"/>
              <a:buChar char="§"/>
            </a:pPr>
            <a:r>
              <a:rPr lang="en-CA" sz="2000" dirty="0" smtClean="0"/>
              <a:t>Your pull request will be merged into the main branch</a:t>
            </a:r>
          </a:p>
          <a:p>
            <a:pPr marL="914400" lvl="1" indent="-360000">
              <a:buFont typeface="Wingdings" panose="05000000000000000000" pitchFamily="2" charset="2"/>
              <a:buChar char="§"/>
            </a:pPr>
            <a:r>
              <a:rPr lang="en-CA" sz="2000" dirty="0" smtClean="0"/>
              <a:t>Delete your branch</a:t>
            </a:r>
          </a:p>
          <a:p>
            <a:pPr marL="514350" indent="-514350"/>
            <a:endParaRPr lang="en-CA" sz="2400" dirty="0" smtClean="0"/>
          </a:p>
          <a:p>
            <a:pPr marL="514350" indent="-514350"/>
            <a:endParaRPr lang="en-CA" sz="2400" dirty="0"/>
          </a:p>
          <a:p>
            <a:pPr marL="514350" indent="-514350"/>
            <a:endParaRPr lang="en-CA" sz="2400" dirty="0" smtClean="0"/>
          </a:p>
          <a:p>
            <a:pPr marL="514350" indent="-514350"/>
            <a:endParaRPr lang="en-CA" sz="2400" dirty="0"/>
          </a:p>
          <a:p>
            <a:pPr marL="514350" indent="-514350"/>
            <a:endParaRPr lang="en-CA" sz="2400" dirty="0" smtClean="0"/>
          </a:p>
          <a:p>
            <a:pPr marL="514350" indent="-514350"/>
            <a:endParaRPr lang="en-CA" sz="2400" dirty="0" smtClean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CA" sz="2000" dirty="0" smtClean="0"/>
          </a:p>
          <a:p>
            <a:pPr marL="914400" lvl="1" indent="-514350">
              <a:buFont typeface="+mj-lt"/>
              <a:buAutoNum type="arabicPeriod"/>
            </a:pPr>
            <a:endParaRPr lang="en-CA" sz="2000" dirty="0" smtClean="0"/>
          </a:p>
          <a:p>
            <a:pPr marL="514350" indent="-514350">
              <a:buFont typeface="+mj-lt"/>
              <a:buAutoNum type="arabicPeriod"/>
            </a:pPr>
            <a:endParaRPr lang="en-CA" sz="24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7504" y="230932"/>
            <a:ext cx="5832648" cy="70609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Merging a Pull Request</a:t>
            </a:r>
            <a:endParaRPr lang="en-CA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203848" y="2780928"/>
            <a:ext cx="2736304" cy="1584176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95736" y="5733256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54400" lvl="1"/>
            <a:r>
              <a:rPr lang="en-CA" sz="3600" dirty="0" smtClean="0"/>
              <a:t>Congratulations!</a:t>
            </a:r>
          </a:p>
        </p:txBody>
      </p:sp>
    </p:spTree>
    <p:extLst>
      <p:ext uri="{BB962C8B-B14F-4D97-AF65-F5344CB8AC3E}">
        <p14:creationId xmlns:p14="http://schemas.microsoft.com/office/powerpoint/2010/main" val="1790730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7270</TotalTime>
  <Words>680</Words>
  <Application>Microsoft Office PowerPoint</Application>
  <PresentationFormat>On-screen Show (4:3)</PresentationFormat>
  <Paragraphs>168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VANGUARD ROBOTICS 2026</vt:lpstr>
      <vt:lpstr>Sign in to github.com</vt:lpstr>
      <vt:lpstr>Set up SourceTree</vt:lpstr>
      <vt:lpstr>Set up SourceTree</vt:lpstr>
      <vt:lpstr>Clone a Repository step 1 -github</vt:lpstr>
      <vt:lpstr>Clone a Repository step 2 -SourceTree</vt:lpstr>
      <vt:lpstr>Clone a Repository step 2 -SourceTree</vt:lpstr>
      <vt:lpstr>Working with SourceTree</vt:lpstr>
      <vt:lpstr>Working with SourceTree</vt:lpstr>
      <vt:lpstr>PowerPoint Presentation</vt:lpstr>
      <vt:lpstr>PowerPoint Presentation</vt:lpstr>
      <vt:lpstr>Basic Procedure</vt:lpstr>
      <vt:lpstr>Ask for a code review “correcting your homework”</vt:lpstr>
      <vt:lpstr>Reviewing a Pull Request  –do not review your own work</vt:lpstr>
      <vt:lpstr>Reviewing a Pull Request</vt:lpstr>
      <vt:lpstr>Merging a Pull Request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VANGUARD ROBOTICS</dc:title>
  <dc:creator>Joanne and Warren Dunn</dc:creator>
  <cp:lastModifiedBy>Joanne and Warren Dunn</cp:lastModifiedBy>
  <cp:revision>22</cp:revision>
  <dcterms:created xsi:type="dcterms:W3CDTF">2026-01-08T00:26:24Z</dcterms:created>
  <dcterms:modified xsi:type="dcterms:W3CDTF">2026-01-13T02:09:08Z</dcterms:modified>
</cp:coreProperties>
</file>